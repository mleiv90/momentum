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30595-D8B3-E09E-37A4-A1D86FB4E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6E7F7A-FA2A-0445-41A1-15B74AC2D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BCF81A-90B9-381C-EC31-AC6B240D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FE87FC-3D56-D3A8-B400-800A2436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B33CF4-A779-1F36-CB4E-97F292682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4376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FFB88-0708-4066-FA44-2F6EDD744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ECBE66-83C6-8BF8-EADF-6D2A20AAE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CD3203-643D-6849-B16E-4959B71CD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F4F220-E0A4-3218-93CB-4EE9A7D9D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2104F0-7B69-80FD-1CAC-54C86D61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6499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F552D-CBC5-8B11-C89D-9C349400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933045-966F-608D-76CC-64C59FB91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688EF7-7014-5DD2-1F4E-34B1760AD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3C514-A8CF-B5FD-9570-5B09377D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A2ED37-9BF2-0612-A632-1A9A578A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348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BA7FF-25BE-54A0-2672-CB8DF487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FB9E9F-23B7-9AA2-13EE-7674A229A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6B2174-8535-CF5E-2CB7-9EC99F378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9C4E5E-48A7-DCD1-817C-6E0FCE08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5A9037-C751-B687-9DC7-FED5C742E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F02A99-827B-96EE-52F4-BA45775F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2072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97509-6B2B-781E-0340-013919A2D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DFF980-843B-7358-0297-879E8CC0B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EDCDEB-CA1C-0DCA-AB19-DFD41310F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60E24E3-2D18-C0DC-ED24-56845DD26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F7D0717-722B-DD0A-D063-EBEFEB9E0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B449D78-EC60-2204-46AE-8FEB2802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CC053B-0989-51E9-1248-4A7CA246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40C3E67-BBFC-712B-CE66-3548A7E0C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02685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CF3C0-4366-329F-F0FC-4478C169D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E01DE28-DDDE-635D-B8CD-02F3C3AC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6C2B476-E205-19DD-4BE1-E5693522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85684B-9EE8-CD8F-67CE-4E782E1F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0221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13A508-0C65-AAA8-AEB4-AE9E1C12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5723B2-83F8-E6FC-39B3-782D84B4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1E9566-CC0D-AE93-E4D6-0996FDF92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619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77297-2F38-5621-C28D-15E6890A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1309E-9419-F908-AC48-E2F7A117D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2DDB21-9979-1BE6-F632-F1EB08908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CC09FF-1BB4-3C77-4B29-B5A97625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2593CD-5263-30BD-A3A3-EE107570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5136E3-304D-C67F-CE82-CD985635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086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B4F9C-88B6-D7A8-FAE5-BEDC622B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144500-76DD-2FDC-E68A-5DABE5C73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8CDF75-EF8B-8854-C4B6-CA8A5CF97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D054A9-177A-F84B-6511-F9C5E260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EAA036-5679-2253-0C84-D3681844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AF0637-BD0E-1671-F090-532C7705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3631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9D8E6-BD86-D096-2D6D-831B2746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9CD43B-4FC9-B346-3C37-A75AC4680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1C3617-5A43-BC93-ABAF-1D620A0D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ABEA51-D523-2D97-CD46-CE0476D6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30F120-CAD7-FF7E-0A83-62E6B239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9275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DABF64-92A8-BAA6-3F36-8CBA45FD5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BC8A3D-C5C8-A1AC-669E-1AA2257A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CD17E5-3A75-594C-8B9D-81F23B0C1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EBB2D1-2484-BF4D-8359-FB55BFEF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90B973-1ACB-CCAE-DC75-A80B7763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021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B32F6B-7084-623C-0CBF-BE1DFA4F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7B0AD1-74B2-F345-6033-5F102AD7C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26A15C-E115-70B4-0820-593FB9DF7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48C9B-B719-40C0-A550-4E143587CBE2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5430D7-6999-D076-EA7B-22815A575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C5B06D-3F1B-F7AF-0CD6-6490057C1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BE94E-EDA4-4589-A2DB-E257E114ECF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950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5CED647-3E8F-37EB-0E0F-B1708D862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92651"/>
            <a:ext cx="1368637" cy="137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ABF9470-6AA4-BCBD-AC2E-0E8B47374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095" y="192651"/>
            <a:ext cx="1158355" cy="137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9A7FC0E5-AF37-13A5-02E5-546BA16F6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9535"/>
            <a:ext cx="9144000" cy="1371493"/>
          </a:xfrm>
        </p:spPr>
        <p:txBody>
          <a:bodyPr>
            <a:normAutofit/>
          </a:bodyPr>
          <a:lstStyle/>
          <a:p>
            <a:r>
              <a:rPr lang="es-ES" sz="4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Estrategias de Inversión Basadas en Momentum Sectorial</a:t>
            </a:r>
            <a:endParaRPr lang="es-AR" sz="44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201450B1-3CEE-2553-6CAF-DED5BBDDE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16969"/>
            <a:ext cx="9144000" cy="9347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análisis de riesgo, rentabilidad y optimización</a:t>
            </a:r>
            <a:br>
              <a:rPr lang="es-ES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ETFs en el mercado estadounidense (2005–2025)</a:t>
            </a:r>
            <a:endParaRPr lang="es-AR" sz="3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FA1F8F8-52EA-99E2-B417-156312F70C8C}"/>
              </a:ext>
            </a:extLst>
          </p:cNvPr>
          <p:cNvSpPr txBox="1"/>
          <p:nvPr/>
        </p:nvSpPr>
        <p:spPr>
          <a:xfrm>
            <a:off x="209550" y="2943705"/>
            <a:ext cx="117729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Tesina de Actuario</a:t>
            </a:r>
            <a:b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Autor: Matias Leiva</a:t>
            </a:r>
            <a:b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Tutor: Rodrigo Arana</a:t>
            </a:r>
            <a:b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Práctica Profesional del Actuario</a:t>
            </a:r>
            <a:b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AR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Dra. Act. </a:t>
            </a: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Liliana Silva</a:t>
            </a:r>
            <a:b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Universidad de Buenos Aires</a:t>
            </a:r>
            <a:b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Facultad de Ciencias Económicas</a:t>
            </a:r>
          </a:p>
          <a:p>
            <a:pPr algn="ctr"/>
            <a:b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  <a:endParaRPr lang="es-AR" sz="20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08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D378-72A3-1447-1924-D248536BA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9EFBD19-00DC-7806-2955-895A176C5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9660F16-BE81-A415-AE45-4B9192515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B96BEF-E8B6-F763-4C83-0D87FDE5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47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s-A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25A5CF-53E2-5B1D-663C-0A55AECD5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6601"/>
            <a:ext cx="10515600" cy="3780247"/>
          </a:xfrm>
        </p:spPr>
        <p:txBody>
          <a:bodyPr/>
          <a:lstStyle/>
          <a:p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Hipótesis de los Mercados Eficientes (Fama, 1970)</a:t>
            </a:r>
          </a:p>
          <a:p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Evidencia empírica de anomalías financieras en los mercados</a:t>
            </a:r>
          </a:p>
          <a:p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Momentum como una de las anomalías más robustas </a:t>
            </a:r>
          </a:p>
          <a:p>
            <a:pPr marL="0" indent="0">
              <a:buNone/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documentadas</a:t>
            </a:r>
          </a:p>
          <a:p>
            <a:r>
              <a:rPr lang="es-E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Pregunta central:</a:t>
            </a: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s-ES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¿el momentum sectorial modifica el perfil de riesgo </a:t>
            </a:r>
          </a:p>
          <a:p>
            <a:pPr marL="0" indent="0">
              <a:buNone/>
            </a:pPr>
            <a:r>
              <a:rPr lang="es-ES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retorno frente al mercado?</a:t>
            </a:r>
            <a:endParaRPr lang="es-AR" sz="2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16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1B8FB-3BF5-E292-2AE1-94CAB74D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1FFFDFB-B593-079C-A67E-4182C70AE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8FD1BB4-855E-1625-8D11-1F2B75250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0A94A48-B1AA-4782-1934-E3AA58A1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3965"/>
            <a:ext cx="10515600" cy="884762"/>
          </a:xfrm>
        </p:spPr>
        <p:txBody>
          <a:bodyPr>
            <a:normAutofit/>
          </a:bodyPr>
          <a:lstStyle/>
          <a:p>
            <a:r>
              <a:rPr lang="es-A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Hipótesis de trabajo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723118-34A0-E05D-2535-383D633DF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85499"/>
            <a:ext cx="10515600" cy="230956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H1:</a:t>
            </a: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ETFs con mayor retorno acumulado en ventanas de </a:t>
            </a:r>
            <a:r>
              <a:rPr lang="es-E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 6 y 12 meses</a:t>
            </a: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presentan retornos subsecuentes superiores al mercado.</a:t>
            </a:r>
          </a:p>
          <a:p>
            <a:pPr>
              <a:lnSpc>
                <a:spcPct val="110000"/>
              </a:lnSpc>
            </a:pPr>
            <a:r>
              <a:rPr lang="es-A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H2:</a:t>
            </a:r>
            <a:r>
              <a:rPr lang="es-AR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Las estrategias de momentum sectorial presentan métricas de desempeño ajustado por riesgo </a:t>
            </a:r>
            <a:r>
              <a:rPr lang="es-A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(Sharpe y alfa CAPM)</a:t>
            </a:r>
            <a:r>
              <a:rPr lang="es-AR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diferentes al benchmark.</a:t>
            </a:r>
          </a:p>
          <a:p>
            <a:r>
              <a:rPr lang="es-E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H3:</a:t>
            </a: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dinámica del riesgo, medida mediante </a:t>
            </a:r>
            <a:r>
              <a:rPr lang="es-E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volatilidad GARCH(1,1), VaR y Expected Shortfall</a:t>
            </a:r>
            <a:r>
              <a:rPr lang="es-E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difiere de la observada en el mercado.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87976D5-5FE6-4D57-91C6-21E3A7880A0F}"/>
              </a:ext>
            </a:extLst>
          </p:cNvPr>
          <p:cNvSpPr txBox="1">
            <a:spLocks/>
          </p:cNvSpPr>
          <p:nvPr/>
        </p:nvSpPr>
        <p:spPr>
          <a:xfrm>
            <a:off x="838200" y="1226610"/>
            <a:ext cx="10515600" cy="884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del estudio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FE21323-8313-AF90-5A71-49E64DD76E60}"/>
              </a:ext>
            </a:extLst>
          </p:cNvPr>
          <p:cNvSpPr txBox="1">
            <a:spLocks/>
          </p:cNvSpPr>
          <p:nvPr/>
        </p:nvSpPr>
        <p:spPr>
          <a:xfrm>
            <a:off x="838200" y="2103301"/>
            <a:ext cx="10515600" cy="997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s-ES" sz="2000" dirty="0">
                <a:solidFill>
                  <a:srgbClr val="002060"/>
                </a:solidFill>
              </a:rPr>
              <a:t> Evaluar el desempeño financiero y el perfil de riesgo de estrategias de </a:t>
            </a:r>
            <a:r>
              <a:rPr lang="es-ES" sz="2000" b="1" dirty="0">
                <a:solidFill>
                  <a:srgbClr val="002060"/>
                </a:solidFill>
              </a:rPr>
              <a:t>momentum sectorial aplicadas a ETFs del mercado estadounidense</a:t>
            </a:r>
            <a:r>
              <a:rPr lang="es-ES" sz="2000" dirty="0">
                <a:solidFill>
                  <a:srgbClr val="002060"/>
                </a:solidFill>
              </a:rPr>
              <a:t>.</a:t>
            </a:r>
            <a:endParaRPr lang="es-ES" sz="20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5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81CE5-DE9C-DDF0-3577-35D4A278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E6AB372-7C75-A821-537E-1E470F712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C26CE13-4006-D28F-8E3E-79E10BCB3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2528F47-998C-DFD2-6592-0A7BF2A9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47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s-ES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y universo de análisis</a:t>
            </a:r>
            <a:endParaRPr lang="es-AR"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56E3C9-B771-CB1E-247B-6ECED4206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6601"/>
            <a:ext cx="10515600" cy="3780247"/>
          </a:xfrm>
        </p:spPr>
        <p:txBody>
          <a:bodyPr/>
          <a:lstStyle/>
          <a:p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ETFs sectoriales SPDR del S&amp;P 500 </a:t>
            </a:r>
          </a:p>
          <a:p>
            <a:pPr marL="0" indent="0">
              <a:buNone/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(XLK, XLF, XLV, XLY, XLP, XLE, XLI, XLB, XLU) 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Benchmark: SPY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Tasa libre de riesgo: Treasury Bill a 3 meses (^IRX)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Período de análisis: 2005–2025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Frecuencia: mensual</a:t>
            </a:r>
            <a:endParaRPr lang="es-AR" sz="2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77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C86E-B2B0-AB7F-BBBD-6A8475B91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7AB2A73-C422-8158-3DBF-F068B9CAE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24776B3-B4ED-922F-5B4F-920BD2F4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BEC9B0-DDF2-5B86-98AF-8B31BB17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47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s-ES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Construcción de la estrategia de inversión</a:t>
            </a:r>
            <a:endParaRPr lang="es-AR"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738C16-8945-F3AA-31FE-1BE4338E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6601"/>
            <a:ext cx="10515600" cy="378024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Cálculo del momentum sectorial usando retornos de 3, 6 y 12 meses  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Ranking de sectores según su desempeño reciente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Selección del tercio superior de sectores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Construcción de un portafolio equiponderado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Rebalanceo mensual considerando costos de transacción</a:t>
            </a:r>
            <a:endParaRPr lang="es-AR" sz="2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24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B3F0A-4DFA-75DA-78FE-3D26DB00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E882DF-57E4-80F4-B48E-C380C5F4D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8C03859-567A-68D2-7936-7288E6AB3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6EF8D8-B368-4CB2-DE7B-57D54B49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47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s-ES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Metodología de evaluación</a:t>
            </a:r>
            <a:endParaRPr lang="es-AR"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6F2AC-E719-5588-C73E-2A25EAEC1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6601"/>
            <a:ext cx="10515600" cy="378024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Métricas de rentabilidad: retorno promedio y CAGR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Medidas de riesgo: volatilidad y drawdown máximo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Desempeño ajustado por riesgo: ratio de Sharpe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Evaluación del desempeño: modelo CAPM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Modelización de la volatilidad</a:t>
            </a:r>
            <a:r>
              <a:rPr lang="es-ES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modelo GARCH(1,1)</a:t>
            </a:r>
            <a:endParaRPr lang="es-ES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Riesgo extremo: VaR y Expected Shortfall</a:t>
            </a:r>
            <a:endParaRPr lang="es-AR" sz="2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34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3B176-EC5B-4618-71F9-754E4E98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A4984F6-E454-719A-8312-78ABF1DF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84213B8-7F57-AC65-091B-54A2C4CA9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2E2E65-75D3-17B7-3094-491A797D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475"/>
            <a:ext cx="10515600" cy="997973"/>
          </a:xfrm>
        </p:spPr>
        <p:txBody>
          <a:bodyPr>
            <a:normAutofit/>
          </a:bodyPr>
          <a:lstStyle/>
          <a:p>
            <a:pPr algn="l"/>
            <a:r>
              <a:rPr lang="es-ES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Desempeño de las estrategias</a:t>
            </a:r>
            <a:endParaRPr lang="es-AR"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16B25BE-922A-C20B-C6A4-1AC1784A60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2560053"/>
              </p:ext>
            </p:extLst>
          </p:nvPr>
        </p:nvGraphicFramePr>
        <p:xfrm>
          <a:off x="659105" y="2227961"/>
          <a:ext cx="10515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6000002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8117133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508352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274997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26074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Estrategia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CAGR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Volatilidad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Drawdown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186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SPY</a:t>
                      </a:r>
                      <a:endParaRPr lang="es-AR" sz="2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10.61%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14.81%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-50.8%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75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LO_3 (3m)</a:t>
                      </a:r>
                      <a:endParaRPr lang="es-AR" sz="2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10.42%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-45.2%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879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LO_6 (6m)</a:t>
                      </a:r>
                      <a:endParaRPr lang="es-AR" sz="2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8.96%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-44.5%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261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LO_12 (12m)</a:t>
                      </a:r>
                      <a:endParaRPr lang="es-AR" sz="2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-39.1%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854374"/>
                  </a:ext>
                </a:extLst>
              </a:tr>
            </a:tbl>
          </a:graphicData>
        </a:graphic>
      </p:graphicFrame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75ECB3E-5959-072B-EC34-7A2E4FDB9770}"/>
              </a:ext>
            </a:extLst>
          </p:cNvPr>
          <p:cNvSpPr txBox="1">
            <a:spLocks/>
          </p:cNvSpPr>
          <p:nvPr/>
        </p:nvSpPr>
        <p:spPr>
          <a:xfrm>
            <a:off x="659105" y="5248655"/>
            <a:ext cx="10515600" cy="1322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LO_3</a:t>
            </a:r>
            <a:r>
              <a:rPr lang="es-AR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presenta desempeño cercano al benchmark</a:t>
            </a:r>
          </a:p>
          <a:p>
            <a:r>
              <a:rPr lang="es-ES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LO_6 y LO_12</a:t>
            </a:r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muestran menor rentabilidad</a:t>
            </a:r>
          </a:p>
          <a:p>
            <a:r>
              <a:rPr lang="es-AR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estrategias momentum presentan </a:t>
            </a:r>
            <a:r>
              <a:rPr lang="es-AR" sz="22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drawdowns</a:t>
            </a:r>
            <a:r>
              <a:rPr lang="es-AR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máximos menos profundos</a:t>
            </a:r>
            <a:endParaRPr lang="es-ES" sz="2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808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EC88-4FD0-3208-388B-515E8BCC9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27F8982-B1B3-DCDA-B18A-B8136ABE1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0F8A0F5-3353-A577-E877-24DCF3BC7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FED1516-4370-F977-1DD2-DF76CF9DA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580" y="288413"/>
            <a:ext cx="6720840" cy="692150"/>
          </a:xfrm>
        </p:spPr>
        <p:txBody>
          <a:bodyPr>
            <a:normAutofit/>
          </a:bodyPr>
          <a:lstStyle/>
          <a:p>
            <a:pPr algn="ctr"/>
            <a:r>
              <a:rPr lang="es-ES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Curvas de capital</a:t>
            </a:r>
            <a:endParaRPr lang="es-AR"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62D5BFE3-39F5-4EE4-DCAB-689F03477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553" y="1034367"/>
            <a:ext cx="9406894" cy="478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5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C02C-E12E-F1FA-01C2-1B730923D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7DFE536-2F1C-897A-B01F-F9EEE91E7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B01A3AF-5454-EF4F-CF52-E745DED24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754C966-A409-4D8C-6503-85ABBA6B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5771"/>
            <a:ext cx="10515600" cy="832485"/>
          </a:xfrm>
        </p:spPr>
        <p:txBody>
          <a:bodyPr>
            <a:normAutofit/>
          </a:bodyPr>
          <a:lstStyle/>
          <a:p>
            <a:pPr algn="l"/>
            <a:r>
              <a:rPr lang="es-ES" sz="40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CAPM</a:t>
            </a:r>
            <a:endParaRPr lang="es-AR"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7F6CC82-F532-6CEC-90B1-BEF479B3A72C}"/>
              </a:ext>
            </a:extLst>
          </p:cNvPr>
          <p:cNvSpPr txBox="1">
            <a:spLocks/>
          </p:cNvSpPr>
          <p:nvPr/>
        </p:nvSpPr>
        <p:spPr>
          <a:xfrm>
            <a:off x="659105" y="4645548"/>
            <a:ext cx="10515600" cy="1322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Betas positivas, significativas y menores que uno. Misma dirección, menor intensidad.</a:t>
            </a:r>
          </a:p>
          <a:p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Alphas estimados no resultan estadísticamente significativos. No hay evidencia retornos adicionales </a:t>
            </a:r>
            <a:r>
              <a:rPr lang="es-ES" sz="22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 mercado.</a:t>
            </a:r>
            <a:endParaRPr lang="es-ES" sz="2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BB6D2643-7BF2-6860-2BB4-FEB55FE573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550946"/>
              </p:ext>
            </p:extLst>
          </p:nvPr>
        </p:nvGraphicFramePr>
        <p:xfrm>
          <a:off x="838200" y="2209673"/>
          <a:ext cx="105156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845310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265815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647230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5157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Estrategia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Alpha 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5885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396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LO_6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≈0%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177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037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474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901B6-DF99-4BAE-953C-B3705FAC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7FF975F-F046-F506-68D1-F7B104D45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76E5A2C-6FC8-28BE-6E1E-1A349293F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EC341EC-56AF-52D7-C3DF-A73CF874F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0" y="288413"/>
            <a:ext cx="8778240" cy="692150"/>
          </a:xfrm>
        </p:spPr>
        <p:txBody>
          <a:bodyPr>
            <a:normAutofit/>
          </a:bodyPr>
          <a:lstStyle/>
          <a:p>
            <a:pPr algn="ctr"/>
            <a:r>
              <a:rPr lang="es-ES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Riesgo dinámico: volatilidad condicional</a:t>
            </a:r>
            <a:endParaRPr lang="es-AR"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35D4D29-5189-0B0A-2FA6-FDA53413C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64" y="980563"/>
            <a:ext cx="7053072" cy="4231517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EC5F681-D994-02B3-DCB8-6694E5DFE011}"/>
              </a:ext>
            </a:extLst>
          </p:cNvPr>
          <p:cNvSpPr txBox="1">
            <a:spLocks/>
          </p:cNvSpPr>
          <p:nvPr/>
        </p:nvSpPr>
        <p:spPr>
          <a:xfrm>
            <a:off x="1706880" y="5351656"/>
            <a:ext cx="8778240" cy="1106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retornos muestran </a:t>
            </a:r>
            <a:r>
              <a:rPr lang="es-ES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agrupamiento de volatilidad</a:t>
            </a:r>
            <a:endParaRPr lang="es-ES" sz="2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modelo </a:t>
            </a:r>
            <a:r>
              <a:rPr lang="es-ES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GARCH(1,1)</a:t>
            </a:r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captura la </a:t>
            </a:r>
            <a:r>
              <a:rPr lang="es-ES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persistencia de la volatilidad</a:t>
            </a:r>
          </a:p>
          <a:p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especificación con innovaciones</a:t>
            </a:r>
            <a:r>
              <a:rPr lang="es-ES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t-</a:t>
            </a:r>
            <a:r>
              <a:rPr lang="es-ES" sz="22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permite reflejar colas más pesadas</a:t>
            </a:r>
          </a:p>
        </p:txBody>
      </p:sp>
    </p:spTree>
    <p:extLst>
      <p:ext uri="{BB962C8B-B14F-4D97-AF65-F5344CB8AC3E}">
        <p14:creationId xmlns:p14="http://schemas.microsoft.com/office/powerpoint/2010/main" val="3585187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340AD-5EC7-B888-6D27-3CDC6AD9F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F48E0A0-44A5-CDDF-7931-26BCDF225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8931F35-65B4-F116-D6BC-ABAF1CE4D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DF3A12-09BB-5F80-38B5-134FA984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043"/>
            <a:ext cx="10515600" cy="719581"/>
          </a:xfrm>
        </p:spPr>
        <p:txBody>
          <a:bodyPr>
            <a:normAutofit/>
          </a:bodyPr>
          <a:lstStyle/>
          <a:p>
            <a:pPr algn="l"/>
            <a:r>
              <a:rPr lang="es-ES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Riesgo extremo: VaR y Expected Shortfall</a:t>
            </a:r>
            <a:endParaRPr lang="es-AR"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F1B266E-4BDC-3BB0-8558-FC04FF77AA3E}"/>
              </a:ext>
            </a:extLst>
          </p:cNvPr>
          <p:cNvSpPr txBox="1">
            <a:spLocks/>
          </p:cNvSpPr>
          <p:nvPr/>
        </p:nvSpPr>
        <p:spPr>
          <a:xfrm>
            <a:off x="659105" y="4855844"/>
            <a:ext cx="10515600" cy="179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 y ES se estiman a partir de la </a:t>
            </a:r>
            <a:r>
              <a:rPr lang="es-ES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volatilidad condicional del modelo GARCH</a:t>
            </a:r>
          </a:p>
          <a:p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diferencias de riesgo extremo entre estrategias son </a:t>
            </a:r>
            <a:r>
              <a:rPr lang="es-ES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moderadas</a:t>
            </a:r>
          </a:p>
          <a:p>
            <a:r>
              <a:rPr lang="es-ES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LO_3 presenta el mayor riesgo extremo</a:t>
            </a:r>
            <a:r>
              <a:rPr lang="es-ES" sz="2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consistente con su mayor volatilidad</a:t>
            </a:r>
          </a:p>
          <a:p>
            <a:r>
              <a:rPr lang="es-AR" sz="2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se observan diferencias sustanciales respecto al benchmark</a:t>
            </a:r>
            <a:endParaRPr lang="es-ES" sz="22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982EDA09-5A88-7F45-4CA2-255A01A230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651552"/>
              </p:ext>
            </p:extLst>
          </p:nvPr>
        </p:nvGraphicFramePr>
        <p:xfrm>
          <a:off x="838200" y="1825625"/>
          <a:ext cx="10515597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613084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68213861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5162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Estrategia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 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 95%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26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6.98%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8.78%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43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7.07%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9.12%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391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LO_6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8.58%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29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2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8.65%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314448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300E59FE-29D9-96DD-CBA6-93EF2A9289B7}"/>
              </a:ext>
            </a:extLst>
          </p:cNvPr>
          <p:cNvSpPr txBox="1"/>
          <p:nvPr/>
        </p:nvSpPr>
        <p:spPr>
          <a:xfrm>
            <a:off x="838197" y="4264025"/>
            <a:ext cx="6289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Promedios mensuales estimados con GARCH(1,1) y distribución t-</a:t>
            </a:r>
            <a:r>
              <a:rPr lang="es-ES" sz="16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endParaRPr lang="es-AR" sz="1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356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0A60A-79BC-3F34-489A-C63FC9748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A7065A2-2375-4696-6E31-2186FB042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4A9E236-5B8E-BCB5-0281-55CB0C97A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D2B3989-1729-5D4E-B6E9-95170E193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475"/>
            <a:ext cx="10515600" cy="777621"/>
          </a:xfrm>
        </p:spPr>
        <p:txBody>
          <a:bodyPr>
            <a:normAutofit/>
          </a:bodyPr>
          <a:lstStyle/>
          <a:p>
            <a:pPr algn="l"/>
            <a:r>
              <a:rPr lang="es-A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BDD5EC-EE14-2279-5E6A-1C8B05DA4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1449"/>
            <a:ext cx="10515600" cy="4497952"/>
          </a:xfrm>
        </p:spPr>
        <p:txBody>
          <a:bodyPr>
            <a:normAutofit/>
          </a:bodyPr>
          <a:lstStyle/>
          <a:p>
            <a:r>
              <a:rPr lang="es-ES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estrategias de </a:t>
            </a:r>
            <a:r>
              <a:rPr lang="es-ES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momentum sectorial no dominan al benchmark en rentabilidad ajustada por riesgo</a:t>
            </a:r>
          </a:p>
          <a:p>
            <a:r>
              <a:rPr lang="es-ES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desempeño está </a:t>
            </a:r>
            <a:r>
              <a:rPr lang="es-ES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principalmente explicado por el comportamiento del mercado (β &lt; 1)</a:t>
            </a:r>
          </a:p>
          <a:p>
            <a:r>
              <a:rPr lang="es-ES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estrategias </a:t>
            </a:r>
            <a:r>
              <a:rPr lang="es-ES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modifican el perfil riesgo del portafolio</a:t>
            </a:r>
            <a:r>
              <a:rPr lang="es-ES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reduciendo </a:t>
            </a:r>
            <a:r>
              <a:rPr lang="es-ES" sz="26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drawdowns</a:t>
            </a:r>
            <a:r>
              <a:rPr lang="es-ES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volatilidad en algunos casos</a:t>
            </a:r>
          </a:p>
          <a:p>
            <a:r>
              <a:rPr lang="es-ES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análisis de </a:t>
            </a:r>
            <a:r>
              <a:rPr lang="es-ES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volatilidad condicional y riesgo extremo confirma dinámicas de riesgo similares al mercado</a:t>
            </a:r>
          </a:p>
          <a:p>
            <a:r>
              <a:rPr lang="es-ES" sz="2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momentum sectorial actúa principalmente como </a:t>
            </a:r>
            <a:r>
              <a:rPr lang="es-ES" sz="2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mecanismo de rotación sectorial más que como fuente de alfa persistente</a:t>
            </a:r>
            <a:endParaRPr lang="es-ES" sz="2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981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DD195-9B2B-7AFB-71F1-4DA748E32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55E3E61-05C0-5561-B751-9CCEC378E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" y="135502"/>
            <a:ext cx="995895" cy="99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3E744D1-63C2-60C9-B0C1-E836352A1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705" y="135502"/>
            <a:ext cx="842882" cy="99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BFB418-4933-D6D9-2C40-462AD6FE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872" y="1975984"/>
            <a:ext cx="10268256" cy="2719346"/>
          </a:xfrm>
        </p:spPr>
        <p:txBody>
          <a:bodyPr>
            <a:noAutofit/>
          </a:bodyPr>
          <a:lstStyle/>
          <a:p>
            <a:pPr algn="ctr"/>
            <a:r>
              <a:rPr lang="es-AR" sz="9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9969225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721</Words>
  <Application>Microsoft Office PowerPoint</Application>
  <PresentationFormat>Panorámica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Tema de Office</vt:lpstr>
      <vt:lpstr>Estrategias de Inversión Basadas en Momentum Sectorial</vt:lpstr>
      <vt:lpstr>Motivación</vt:lpstr>
      <vt:lpstr>Hipótesis de trabajo</vt:lpstr>
      <vt:lpstr>Datos y universo de análisis</vt:lpstr>
      <vt:lpstr>Construcción de la estrategia de inversión</vt:lpstr>
      <vt:lpstr>Metodología de evaluación</vt:lpstr>
      <vt:lpstr>Desempeño de las estrategias</vt:lpstr>
      <vt:lpstr>Curvas de capital</vt:lpstr>
      <vt:lpstr>Resultados CAPM</vt:lpstr>
      <vt:lpstr>Riesgo dinámico: volatilidad condicional</vt:lpstr>
      <vt:lpstr>Riesgo extremo: VaR y Expected Shortfall</vt:lpstr>
      <vt:lpstr>Conclusiones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Leiva</dc:creator>
  <cp:lastModifiedBy>Matias Leiva</cp:lastModifiedBy>
  <cp:revision>60</cp:revision>
  <dcterms:created xsi:type="dcterms:W3CDTF">2026-03-15T16:23:32Z</dcterms:created>
  <dcterms:modified xsi:type="dcterms:W3CDTF">2026-03-19T20:57:10Z</dcterms:modified>
</cp:coreProperties>
</file>